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Faturamento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Set</c:v>
                  </c:pt>
                  <c:pt idx="1">
                    <c:v>Out</c:v>
                  </c:pt>
                  <c:pt idx="2">
                    <c:v>Nov</c:v>
                  </c:pt>
                  <c:pt idx="3">
                    <c:v>Dez</c:v>
                  </c:pt>
                  <c:pt idx="4">
                    <c:v>Jan</c:v>
                  </c:pt>
                  <c:pt idx="5">
                    <c:v>Fev</c:v>
                  </c:pt>
                  <c:pt idx="6">
                    <c:v>Mar</c:v>
                  </c:pt>
                  <c:pt idx="7">
                    <c:v>Abr</c:v>
                  </c:pt>
                  <c:pt idx="8">
                    <c:v>Mai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120</c:v>
                </c:pt>
                <c:pt idx="1">
                  <c:v>183</c:v>
                </c:pt>
                <c:pt idx="2">
                  <c:v>133</c:v>
                </c:pt>
                <c:pt idx="3">
                  <c:v>193</c:v>
                </c:pt>
                <c:pt idx="4">
                  <c:v>110</c:v>
                </c:pt>
                <c:pt idx="5">
                  <c:v>122</c:v>
                </c:pt>
                <c:pt idx="6">
                  <c:v>200</c:v>
                </c:pt>
                <c:pt idx="7">
                  <c:v>172</c:v>
                </c:pt>
                <c:pt idx="8">
                  <c:v>131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Participação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9E0B"/>
              </a:solidFill>
              <a:effectLst/>
            </c:spPr>
          </c:dPt>
          <c:dPt>
            <c:idx val="1"/>
            <c:bubble3D val="0"/>
            <c:spPr>
              <a:solidFill>
                <a:srgbClr val="DBEAF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Maior produto</c:v>
                </c:pt>
                <c:pt idx="1">
                  <c:v>Todos os outros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2.26</c:v>
                </c:pt>
                <c:pt idx="1">
                  <c:v>97.74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463040"/>
            <a:ext cx="3840480" cy="3840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4572000"/>
            <a:ext cx="3291840" cy="32918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120640"/>
            <a:ext cx="3108960" cy="3108960"/>
          </a:xfrm>
          <a:prstGeom prst="ellipse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051560"/>
            <a:ext cx="1051560" cy="105156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1307592"/>
            <a:ext cx="530352" cy="5303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3317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DOMY DOCES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841248" y="34290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Vendas e Rentabilidade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41248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os números do negócio nos contam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41248" y="5212080"/>
            <a:ext cx="429768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248" y="521208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analisado: Set/2025 a Mai/2026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loja em números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indicadores que resumem a saúde do negócio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11480" y="2057400"/>
            <a:ext cx="2615184" cy="2331720"/>
          </a:xfrm>
          <a:prstGeom prst="roundRect">
            <a:avLst>
              <a:gd name="adj" fmla="val 4706"/>
            </a:avLst>
          </a:prstGeom>
          <a:solidFill>
            <a:srgbClr val="1E40A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35024" y="2331720"/>
            <a:ext cx="768096" cy="768096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2505456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3136392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R$ 1,36 mi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411480" y="3685032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total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11480" y="3995928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R$ 151 mil por mês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19272" y="2057400"/>
            <a:ext cx="2615184" cy="2331720"/>
          </a:xfrm>
          <a:prstGeom prst="roundRect">
            <a:avLst>
              <a:gd name="adj" fmla="val 4706"/>
            </a:avLst>
          </a:prstGeom>
          <a:solidFill>
            <a:srgbClr val="2563E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42816" y="2331720"/>
            <a:ext cx="768096" cy="768096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2505456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19272" y="3136392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37,8 mil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3319272" y="3685032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realizadas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319272" y="3995928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compras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27064" y="2057400"/>
            <a:ext cx="2615184" cy="2331720"/>
          </a:xfrm>
          <a:prstGeom prst="roundRect">
            <a:avLst>
              <a:gd name="adj" fmla="val 4706"/>
            </a:avLst>
          </a:prstGeom>
          <a:solidFill>
            <a:srgbClr val="1E40A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50608" y="2331720"/>
            <a:ext cx="768096" cy="768096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344" y="2505456"/>
            <a:ext cx="420624" cy="4206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27064" y="3136392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28%</a:t>
            </a:r>
            <a:endParaRPr lang="en-US" sz="3200" dirty="0"/>
          </a:p>
        </p:txBody>
      </p:sp>
      <p:sp>
        <p:nvSpPr>
          <p:cNvPr id="20" name="Text 15"/>
          <p:cNvSpPr/>
          <p:nvPr/>
        </p:nvSpPr>
        <p:spPr>
          <a:xfrm>
            <a:off x="6227064" y="3685032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do catálogo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227064" y="3995928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rentabilidade saudável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134856" y="2057400"/>
            <a:ext cx="2615184" cy="2331720"/>
          </a:xfrm>
          <a:prstGeom prst="roundRect">
            <a:avLst>
              <a:gd name="adj" fmla="val 4706"/>
            </a:avLst>
          </a:prstGeom>
          <a:solidFill>
            <a:srgbClr val="2563E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058400" y="2331720"/>
            <a:ext cx="768096" cy="768096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2136" y="2505456"/>
            <a:ext cx="420624" cy="42062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34856" y="3136392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R$ 36</a:t>
            </a:r>
            <a:endParaRPr lang="en-US" sz="3200" dirty="0"/>
          </a:p>
        </p:txBody>
      </p:sp>
      <p:sp>
        <p:nvSpPr>
          <p:cNvPr id="26" name="Text 20"/>
          <p:cNvSpPr/>
          <p:nvPr/>
        </p:nvSpPr>
        <p:spPr>
          <a:xfrm>
            <a:off x="9134856" y="3685032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médio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9134856" y="3995928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médio por compra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411480" y="4983480"/>
            <a:ext cx="113385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239512"/>
            <a:ext cx="402336" cy="40233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280160" y="498348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9 meses, a Domy faturou R$ 1,36 milhão. 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cerca de R$ 151 mil por mês, com uma margem saudável e ticket médio de R$ 36 por compra.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a loja vende mais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ano e a semana têm um ritmo claro — e dá pra usar isso a favor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737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Março é o pico do ano</a:t>
            </a:r>
            <a:endParaRPr lang="en-US" sz="1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286000"/>
          <a:ext cx="52120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640080" y="50292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por mês (em R$ mil)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640080" y="5413248"/>
            <a:ext cx="5212080" cy="868680"/>
          </a:xfrm>
          <a:prstGeom prst="roundRect">
            <a:avLst>
              <a:gd name="adj" fmla="val 10526"/>
            </a:avLst>
          </a:prstGeom>
          <a:solidFill>
            <a:srgbClr val="FEF3C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68680" y="5413248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Páscoa. </a:t>
            </a:r>
            <a:pPr indent="0" marL="0">
              <a:buNone/>
            </a:pPr>
            <a:r>
              <a:rPr lang="en-US" sz="12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data mais forte de uma loja de doces. Vale preparar estoque e variedade com antecedência — e olhar o que mais sai no período.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8308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858000" y="1737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Sexta é o dia mais forte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6400800" y="23317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7955280" y="2377440"/>
            <a:ext cx="2876029" cy="256032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/>
        </p:spPr>
      </p:sp>
      <p:sp>
        <p:nvSpPr>
          <p:cNvPr id="14" name="Text 9"/>
          <p:cNvSpPr/>
          <p:nvPr/>
        </p:nvSpPr>
        <p:spPr>
          <a:xfrm>
            <a:off x="10904461" y="233172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16,6%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6400800" y="275234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Terça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955280" y="2798064"/>
            <a:ext cx="2685448" cy="256032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/>
        </p:spPr>
      </p:sp>
      <p:sp>
        <p:nvSpPr>
          <p:cNvPr id="17" name="Text 12"/>
          <p:cNvSpPr/>
          <p:nvPr/>
        </p:nvSpPr>
        <p:spPr>
          <a:xfrm>
            <a:off x="10713880" y="275234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15,5%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6400800" y="317296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Quarta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955280" y="3218688"/>
            <a:ext cx="3049283" cy="256032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/>
        </p:spPr>
      </p:sp>
      <p:sp>
        <p:nvSpPr>
          <p:cNvPr id="20" name="Text 15"/>
          <p:cNvSpPr/>
          <p:nvPr/>
        </p:nvSpPr>
        <p:spPr>
          <a:xfrm>
            <a:off x="11077715" y="317296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17,6%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6400800" y="3593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Quinta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7955280" y="3639312"/>
            <a:ext cx="2893354" cy="256032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/>
        </p:spPr>
      </p:sp>
      <p:sp>
        <p:nvSpPr>
          <p:cNvPr id="23" name="Text 18"/>
          <p:cNvSpPr/>
          <p:nvPr/>
        </p:nvSpPr>
        <p:spPr>
          <a:xfrm>
            <a:off x="10921786" y="359359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16,7%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6400800" y="401421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Sexta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7955280" y="4059936"/>
            <a:ext cx="3291840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26" name="Text 21"/>
          <p:cNvSpPr/>
          <p:nvPr/>
        </p:nvSpPr>
        <p:spPr>
          <a:xfrm>
            <a:off x="11320272" y="401421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19,0%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6400800" y="44348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Sábado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7955280" y="4480560"/>
            <a:ext cx="2529519" cy="256032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/>
        </p:spPr>
      </p:sp>
      <p:sp>
        <p:nvSpPr>
          <p:cNvPr id="29" name="Text 24"/>
          <p:cNvSpPr/>
          <p:nvPr/>
        </p:nvSpPr>
        <p:spPr>
          <a:xfrm>
            <a:off x="10557951" y="44348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14,6%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6400800" y="48737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 no faturamento da semana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6400800" y="5413248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2" name="Text 27"/>
          <p:cNvSpPr/>
          <p:nvPr/>
        </p:nvSpPr>
        <p:spPr>
          <a:xfrm>
            <a:off x="6629400" y="541324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Sábado vende menos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a loja fecha às 15h (nos outros dias, até 18h). Menos horas, menos vendas — faz sentido.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vende não é o que mais rende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campeão de dinheiro e o campeão de quantidade são produtos diferentes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52578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331720"/>
            <a:ext cx="777240" cy="77724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2532888"/>
            <a:ext cx="374904" cy="374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239572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FATURAMENTO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057400" y="268833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Chantilly Norcau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143000" y="33375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R$ 30,8 mil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período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143000" y="381304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produto que traz mais dinheiro para o caixa.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26480" y="2011680"/>
            <a:ext cx="52578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46520" y="2331720"/>
            <a:ext cx="777240" cy="77724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2532888"/>
            <a:ext cx="374904" cy="37490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06640" y="239572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VENDIDO (UNIDADES)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406640" y="268833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Produtos Diversos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6492240" y="33375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1.665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unidades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6492240" y="381304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que mais sai da prateleira em quantidade.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669280" y="2743200"/>
            <a:ext cx="822960" cy="82296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5669280" y="27249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2600" dirty="0"/>
          </a:p>
        </p:txBody>
      </p:sp>
      <p:sp>
        <p:nvSpPr>
          <p:cNvPr id="20" name="Shape 16"/>
          <p:cNvSpPr/>
          <p:nvPr/>
        </p:nvSpPr>
        <p:spPr>
          <a:xfrm>
            <a:off x="777240" y="4892040"/>
            <a:ext cx="10607040" cy="1051560"/>
          </a:xfrm>
          <a:prstGeom prst="roundRect">
            <a:avLst>
              <a:gd name="adj" fmla="val 8696"/>
            </a:avLst>
          </a:prstGeom>
          <a:solidFill>
            <a:srgbClr val="1E40A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5248656"/>
            <a:ext cx="420624" cy="42062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737360" y="4892040"/>
            <a:ext cx="9418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importa?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mais caros faturam alto mesmo vendendo menos; os baratinhos vendem muito mas pesam pouco no caixa. Gerir a loja exige olhar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lados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dinheiro e quantidade.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loja não depende de um produto só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faturamento vem de um catálogo amplo — isso é sinal de saúde</a:t>
            </a:r>
            <a:endParaRPr lang="en-US" sz="14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2011680"/>
          <a:ext cx="42062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36118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2,26%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31520" y="41148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maior produto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394960" y="2011680"/>
            <a:ext cx="603504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50992" y="2322576"/>
            <a:ext cx="585216" cy="585216"/>
          </a:xfrm>
          <a:prstGeom prst="ellipse">
            <a:avLst/>
          </a:prstGeom>
          <a:solidFill>
            <a:srgbClr val="F8FAF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152" y="2459736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46520" y="2194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item manda sozinho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446520" y="254203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o produto que mais fatura representa só 2,26% do total. Se um item faltar ou sair de linha, o impacto é absorvível.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394960" y="3346704"/>
            <a:ext cx="603504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650992" y="3657600"/>
            <a:ext cx="585216" cy="585216"/>
          </a:xfrm>
          <a:prstGeom prst="ellipse">
            <a:avLst/>
          </a:prstGeom>
          <a:solidFill>
            <a:srgbClr val="F8FAF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52" y="3794760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46520" y="35295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força está na variedade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446520" y="3877056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dinheiro vem de muitos produtos contribuindo um pouco cada — um catálogo amplo e bem distribuído.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394960" y="4681728"/>
            <a:ext cx="603504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650992" y="4992624"/>
            <a:ext cx="585216" cy="585216"/>
          </a:xfrm>
          <a:prstGeom prst="ellipse">
            <a:avLst/>
          </a:prstGeom>
          <a:solidFill>
            <a:srgbClr val="F8FAF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8152" y="5129784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446520" y="48646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outro lado da moeda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6446520" y="52120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grande exige boa gestão: controlar estoque e decidir o que vale manter e o que pode ser enxugado.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Rentabilidade saudável — e uma oportunidade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margem geral é boa, mas os campeões de venda podem render mais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está a margem do catálogo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10%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74520" y="2386584"/>
            <a:ext cx="109728" cy="329184"/>
          </a:xfrm>
          <a:prstGeom prst="roundRect">
            <a:avLst>
              <a:gd name="adj" fmla="val 33333"/>
            </a:avLst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2075688" y="233172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0,1%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289864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74520" y="2953512"/>
            <a:ext cx="761404" cy="329184"/>
          </a:xfrm>
          <a:prstGeom prst="roundRect">
            <a:avLst>
              <a:gd name="adj" fmla="val 11111"/>
            </a:avLst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2727364" y="2898648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11,5%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3465576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74520" y="3520440"/>
            <a:ext cx="3383280" cy="329184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5349240" y="3465576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51,1%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403250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4087368"/>
            <a:ext cx="1575774" cy="329184"/>
          </a:xfrm>
          <a:prstGeom prst="roundRect">
            <a:avLst>
              <a:gd name="adj" fmla="val 11111"/>
            </a:avLst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3541734" y="4032504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23,8%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1520" y="459943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40%+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874520" y="4654296"/>
            <a:ext cx="840854" cy="329184"/>
          </a:xfrm>
          <a:prstGeom prst="roundRect">
            <a:avLst>
              <a:gd name="adj" fmla="val 11111"/>
            </a:avLst>
          </a:prstGeom>
          <a:solidFill>
            <a:srgbClr val="15803D"/>
          </a:solidFill>
          <a:ln/>
        </p:spPr>
      </p:sp>
      <p:sp>
        <p:nvSpPr>
          <p:cNvPr id="19" name="Text 17"/>
          <p:cNvSpPr/>
          <p:nvPr/>
        </p:nvSpPr>
        <p:spPr>
          <a:xfrm>
            <a:off x="2806814" y="459943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12,7%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31520" y="5166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do faturamento em cada faixa de margem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5440680"/>
            <a:ext cx="5120640" cy="841248"/>
          </a:xfrm>
          <a:prstGeom prst="roundRect">
            <a:avLst>
              <a:gd name="adj" fmla="val 10870"/>
            </a:avLst>
          </a:prstGeom>
          <a:solidFill>
            <a:srgbClr val="DCFCE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5696712"/>
            <a:ext cx="384048" cy="38404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463040" y="5440680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mediana ≈ 31%. </a:t>
            </a:r>
            <a:pPr indent="0" marL="0">
              <a:buNone/>
            </a:pPr>
            <a:r>
              <a:rPr lang="en-US" sz="12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 parte das vendas tem boa rentabilidade.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309360" y="178308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1E40A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629400" y="2103120"/>
            <a:ext cx="868680" cy="86868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856" y="2322576"/>
            <a:ext cx="429768" cy="42976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680960" y="22128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GRANDE OPORTUNIDADE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7680960" y="252374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campeão rende abaixo do ideal</a:t>
            </a:r>
            <a:endParaRPr lang="en-US" sz="1700" dirty="0"/>
          </a:p>
        </p:txBody>
      </p:sp>
      <p:sp>
        <p:nvSpPr>
          <p:cNvPr id="29" name="Text 25"/>
          <p:cNvSpPr/>
          <p:nvPr/>
        </p:nvSpPr>
        <p:spPr>
          <a:xfrm>
            <a:off x="6629400" y="324612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Chantilly Norcau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o que mais fatura e gira rapidíssimo (vende quase todo dia). Mas a margem dele é de apenas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22,2%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6629400" y="4434840"/>
            <a:ext cx="4526280" cy="1627632"/>
          </a:xfrm>
          <a:prstGeom prst="roundRect">
            <a:avLst>
              <a:gd name="adj" fmla="val 5618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4663440"/>
            <a:ext cx="365760" cy="36576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7315200" y="46451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Pequeno ajuste, grande impacto</a:t>
            </a:r>
            <a:endParaRPr lang="en-US" sz="1350" dirty="0"/>
          </a:p>
        </p:txBody>
      </p:sp>
      <p:sp>
        <p:nvSpPr>
          <p:cNvPr id="33" name="Text 28"/>
          <p:cNvSpPr/>
          <p:nvPr/>
        </p:nvSpPr>
        <p:spPr>
          <a:xfrm>
            <a:off x="6858000" y="502920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ele vende muito, subir a margem em poucos pontos (de 22% para ~26%) teria um impacto grande no lucro total. É onde vale a pena focar: rever preço ou negociar custo com o fornecedor.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280160"/>
            <a:ext cx="3474720" cy="34747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5212080"/>
            <a:ext cx="2926080" cy="2926080"/>
          </a:xfrm>
          <a:prstGeom prst="ellipse">
            <a:avLst/>
          </a:prstGeom>
          <a:solidFill>
            <a:srgbClr val="F59E0B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640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resumo: por onde começar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95528" y="13258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ações práticas que os dados sugerem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210312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074920" y="2359152"/>
            <a:ext cx="640080" cy="640080"/>
          </a:xfrm>
          <a:prstGeom prst="ellipse">
            <a:avLst/>
          </a:prstGeom>
          <a:solidFill>
            <a:srgbClr val="F8FAF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0368" y="2514600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0" y="23774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40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Preparar as datas fortes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097280" y="301752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Páscoa é o pico do ano. Antecipar estoque e variedade — e planejar Dia das Crianças, Natal e Dia dos Namorados.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0" y="210312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162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67512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4" name="Shape 11"/>
          <p:cNvSpPr/>
          <p:nvPr/>
        </p:nvSpPr>
        <p:spPr>
          <a:xfrm>
            <a:off x="10698480" y="2359152"/>
            <a:ext cx="640080" cy="640080"/>
          </a:xfrm>
          <a:prstGeom prst="ellipse">
            <a:avLst/>
          </a:prstGeom>
          <a:solidFill>
            <a:srgbClr val="F8FAF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3928" y="2514600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452360" y="23774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40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Reforçar de segunda a sexta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6720840" y="301752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movimento se concentra nos dias úteis, com pico na sexta. É quando estoque e equipe precisam estar completos.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777240" y="416052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1620000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1051560" y="4389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20" name="Shape 16"/>
          <p:cNvSpPr/>
          <p:nvPr/>
        </p:nvSpPr>
        <p:spPr>
          <a:xfrm>
            <a:off x="5074920" y="4416552"/>
            <a:ext cx="640080" cy="640080"/>
          </a:xfrm>
          <a:prstGeom prst="ellipse">
            <a:avLst/>
          </a:prstGeom>
          <a:solidFill>
            <a:srgbClr val="F8FAFC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368" y="4572000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828800" y="44348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40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 a margem dos campeões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1097280" y="507492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que vendem muito com margem apertada (como o Chantilly) são a maior alavanca de lucro da loja.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6400800" y="416052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16200000">
              <a:srgbClr val="000000">
                <a:alpha val="12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6675120" y="4389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26" name="Shape 21"/>
          <p:cNvSpPr/>
          <p:nvPr/>
        </p:nvSpPr>
        <p:spPr>
          <a:xfrm>
            <a:off x="10698480" y="4416552"/>
            <a:ext cx="640080" cy="640080"/>
          </a:xfrm>
          <a:prstGeom prst="ellipse">
            <a:avLst/>
          </a:prstGeom>
          <a:solidFill>
            <a:srgbClr val="F8FAFC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3928" y="4572000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52360" y="44348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40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Cuidar do catálogo amplo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6720840" y="507492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os itens parados e decidir o que vale manter por variedade e o que pode ser enxugado.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Domy Doces — Análise de Vendas</dc:title>
  <dc:subject>PptxGenJS Presentation</dc:subject>
  <dc:creator>Vinícius Braga Bruno</dc:creator>
  <cp:lastModifiedBy>Vinícius Braga Bruno</cp:lastModifiedBy>
  <cp:revision>1</cp:revision>
  <dcterms:created xsi:type="dcterms:W3CDTF">2026-06-16T23:23:08Z</dcterms:created>
  <dcterms:modified xsi:type="dcterms:W3CDTF">2026-06-16T23:23:08Z</dcterms:modified>
</cp:coreProperties>
</file>